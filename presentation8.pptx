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4610100" cy="3460750"/>
  <p:notesSz cx="4610100" cy="34607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7" d="100"/>
          <a:sy n="157" d="100"/>
        </p:scale>
        <p:origin x="15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834977"/>
            <a:ext cx="3915511" cy="54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22373A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21894" y="1858067"/>
            <a:ext cx="3966311" cy="67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30" dirty="0"/>
              <a:t>‹#›</a:t>
            </a:fld>
            <a:r>
              <a:rPr spc="30" dirty="0"/>
              <a:t>/8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608195" cy="377190"/>
          </a:xfrm>
          <a:custGeom>
            <a:avLst/>
            <a:gdLst/>
            <a:ahLst/>
            <a:cxnLst/>
            <a:rect l="l" t="t" r="r" b="b"/>
            <a:pathLst>
              <a:path w="4608195" h="377190">
                <a:moveTo>
                  <a:pt x="4608004" y="0"/>
                </a:moveTo>
                <a:lnTo>
                  <a:pt x="0" y="0"/>
                </a:lnTo>
                <a:lnTo>
                  <a:pt x="0" y="376948"/>
                </a:lnTo>
                <a:lnTo>
                  <a:pt x="4608004" y="376948"/>
                </a:lnTo>
                <a:lnTo>
                  <a:pt x="460800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30" dirty="0"/>
              <a:t>‹#›</a:t>
            </a:fld>
            <a:r>
              <a:rPr spc="30" dirty="0"/>
              <a:t>/8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30" dirty="0"/>
              <a:t>‹#›</a:t>
            </a:fld>
            <a:r>
              <a:rPr spc="30" dirty="0"/>
              <a:t>/8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608195" cy="377190"/>
          </a:xfrm>
          <a:custGeom>
            <a:avLst/>
            <a:gdLst/>
            <a:ahLst/>
            <a:cxnLst/>
            <a:rect l="l" t="t" r="r" b="b"/>
            <a:pathLst>
              <a:path w="4608195" h="377190">
                <a:moveTo>
                  <a:pt x="4608004" y="0"/>
                </a:moveTo>
                <a:lnTo>
                  <a:pt x="0" y="0"/>
                </a:lnTo>
                <a:lnTo>
                  <a:pt x="0" y="376948"/>
                </a:lnTo>
                <a:lnTo>
                  <a:pt x="4608004" y="376948"/>
                </a:lnTo>
                <a:lnTo>
                  <a:pt x="460800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30" dirty="0"/>
              <a:t>‹#›</a:t>
            </a:fld>
            <a:r>
              <a:rPr spc="30" dirty="0"/>
              <a:t>/8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30" dirty="0"/>
              <a:t>‹#›</a:t>
            </a:fld>
            <a:r>
              <a:rPr spc="30" dirty="0"/>
              <a:t>/8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7074"/>
            <a:ext cx="4364837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13301" y="3173146"/>
            <a:ext cx="231775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30" dirty="0"/>
              <a:t>‹#›</a:t>
            </a:fld>
            <a:r>
              <a:rPr spc="30" dirty="0"/>
              <a:t>/8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90"/>
              </a:spcBef>
            </a:pPr>
            <a:r>
              <a:rPr dirty="0"/>
              <a:t>Лабораторная</a:t>
            </a:r>
            <a:r>
              <a:rPr spc="20" dirty="0"/>
              <a:t> </a:t>
            </a:r>
            <a:r>
              <a:rPr dirty="0"/>
              <a:t>работа</a:t>
            </a:r>
            <a:r>
              <a:rPr spc="20" dirty="0"/>
              <a:t> </a:t>
            </a:r>
            <a:r>
              <a:rPr spc="90" dirty="0"/>
              <a:t>№8</a:t>
            </a:r>
            <a:r>
              <a:rPr spc="-30" dirty="0"/>
              <a:t> </a:t>
            </a:r>
            <a:r>
              <a:rPr spc="15" dirty="0"/>
              <a:t>“Командная </a:t>
            </a:r>
            <a:r>
              <a:rPr spc="-335" dirty="0"/>
              <a:t> </a:t>
            </a:r>
            <a:r>
              <a:rPr spc="-5" dirty="0"/>
              <a:t>оболочка</a:t>
            </a:r>
            <a:r>
              <a:rPr spc="30" dirty="0"/>
              <a:t> </a:t>
            </a:r>
            <a:r>
              <a:rPr spc="25" dirty="0"/>
              <a:t>Midnight</a:t>
            </a:r>
            <a:r>
              <a:rPr spc="35" dirty="0"/>
              <a:t> </a:t>
            </a:r>
            <a:r>
              <a:rPr spc="45" dirty="0"/>
              <a:t>Commander”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1618977"/>
            <a:ext cx="3888104" cy="5080"/>
          </a:xfrm>
          <a:custGeom>
            <a:avLst/>
            <a:gdLst/>
            <a:ahLst/>
            <a:cxnLst/>
            <a:rect l="l" t="t" r="r" b="b"/>
            <a:pathLst>
              <a:path w="3888104" h="5080">
                <a:moveTo>
                  <a:pt x="0" y="5060"/>
                </a:moveTo>
                <a:lnTo>
                  <a:pt x="0" y="0"/>
                </a:lnTo>
                <a:lnTo>
                  <a:pt x="3888051" y="0"/>
                </a:lnTo>
                <a:lnTo>
                  <a:pt x="3888051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0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894" y="1858067"/>
            <a:ext cx="1778635" cy="6668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5300"/>
              </a:lnSpc>
              <a:spcBef>
                <a:spcPts val="100"/>
              </a:spcBef>
            </a:pPr>
            <a:r>
              <a:rPr lang="ru-RU" sz="1000" spc="45" dirty="0" err="1" smtClean="0">
                <a:solidFill>
                  <a:srgbClr val="22373A"/>
                </a:solidFill>
                <a:latin typeface="Times New Roman"/>
                <a:cs typeface="Times New Roman"/>
              </a:rPr>
              <a:t>Лагода</a:t>
            </a:r>
            <a:r>
              <a:rPr lang="ru-RU" sz="1000" spc="45" dirty="0" smtClean="0">
                <a:solidFill>
                  <a:srgbClr val="22373A"/>
                </a:solidFill>
                <a:latin typeface="Times New Roman"/>
                <a:cs typeface="Times New Roman"/>
              </a:rPr>
              <a:t> Валерий Андреевич</a:t>
            </a:r>
            <a:r>
              <a:rPr sz="1050" spc="60" baseline="31746" dirty="0" smtClean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050" spc="-240" baseline="31746" dirty="0" smtClean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000" spc="30" dirty="0" smtClean="0">
                <a:solidFill>
                  <a:srgbClr val="22373A"/>
                </a:solidFill>
                <a:latin typeface="Times New Roman"/>
                <a:cs typeface="Times New Roman"/>
              </a:rPr>
              <a:t>2021</a:t>
            </a:r>
            <a:endParaRPr sz="10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40"/>
              </a:spcBef>
            </a:pPr>
            <a:r>
              <a:rPr sz="800" dirty="0" smtClean="0">
                <a:solidFill>
                  <a:srgbClr val="22373A"/>
                </a:solidFill>
                <a:latin typeface="Times New Roman"/>
                <a:cs typeface="Times New Roman"/>
              </a:rPr>
              <a:t>РУДН</a:t>
            </a:r>
            <a:r>
              <a:rPr sz="800" dirty="0">
                <a:solidFill>
                  <a:srgbClr val="22373A"/>
                </a:solidFill>
                <a:latin typeface="Times New Roman"/>
                <a:cs typeface="Times New Roman"/>
              </a:rPr>
              <a:t>,</a:t>
            </a:r>
            <a:r>
              <a:rPr sz="800" spc="-5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800" spc="25" dirty="0">
                <a:solidFill>
                  <a:srgbClr val="22373A"/>
                </a:solidFill>
                <a:latin typeface="Times New Roman"/>
                <a:cs typeface="Times New Roman"/>
              </a:rPr>
              <a:t>Москва,</a:t>
            </a:r>
            <a:r>
              <a:rPr sz="800" spc="-5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800" spc="25" dirty="0">
                <a:solidFill>
                  <a:srgbClr val="22373A"/>
                </a:solidFill>
                <a:latin typeface="Times New Roman"/>
                <a:cs typeface="Times New Roman"/>
              </a:rPr>
              <a:t>Россия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8701" y="3177094"/>
            <a:ext cx="1682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22373A"/>
                </a:solidFill>
                <a:latin typeface="Times New Roman"/>
                <a:cs typeface="Times New Roman"/>
              </a:rPr>
              <a:t>1/8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7295" y="1113005"/>
            <a:ext cx="2916555" cy="811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90"/>
              </a:spcBef>
            </a:pPr>
            <a:r>
              <a:rPr sz="1400" b="1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Лабораторная</a:t>
            </a:r>
            <a:r>
              <a:rPr sz="1400" b="1" spc="25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1400" b="1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работа</a:t>
            </a:r>
            <a:r>
              <a:rPr sz="1400" b="1" spc="30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1400" b="1" spc="90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№8 </a:t>
            </a:r>
            <a:r>
              <a:rPr sz="1400" b="1" spc="95" dirty="0">
                <a:solidFill>
                  <a:srgbClr val="22373A"/>
                </a:solidFill>
                <a:latin typeface="Palatino Linotype"/>
                <a:cs typeface="Palatino Linotype"/>
              </a:rPr>
              <a:t> </a:t>
            </a:r>
            <a:r>
              <a:rPr sz="1400" b="1" spc="15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“Командная</a:t>
            </a:r>
            <a:r>
              <a:rPr sz="1400" b="1" spc="20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1400" b="1" spc="-5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оболочка</a:t>
            </a:r>
            <a:r>
              <a:rPr sz="1400" b="1" spc="20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1400" b="1" spc="25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Midnight </a:t>
            </a:r>
            <a:r>
              <a:rPr sz="1400" b="1" spc="-335" dirty="0">
                <a:solidFill>
                  <a:srgbClr val="22373A"/>
                </a:solidFill>
                <a:latin typeface="Palatino Linotype"/>
                <a:cs typeface="Palatino Linotype"/>
              </a:rPr>
              <a:t> </a:t>
            </a:r>
            <a:r>
              <a:rPr sz="1400" b="1" spc="45" dirty="0">
                <a:solidFill>
                  <a:srgbClr val="22373A"/>
                </a:solidFill>
                <a:latin typeface="Palatino Linotype"/>
                <a:cs typeface="Palatino Linotype"/>
                <a:hlinkClick r:id="rId2" action="ppaction://hlinksldjump"/>
              </a:rPr>
              <a:t>Commander”</a:t>
            </a:r>
            <a:endParaRPr sz="1400">
              <a:latin typeface="Palatino Linotype"/>
              <a:cs typeface="Palatino Linotyp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9995" y="2040718"/>
            <a:ext cx="3048635" cy="5080"/>
            <a:chOff x="779995" y="2040718"/>
            <a:chExt cx="3048635" cy="5080"/>
          </a:xfrm>
        </p:grpSpPr>
        <p:sp>
          <p:nvSpPr>
            <p:cNvPr id="4" name="object 4"/>
            <p:cNvSpPr/>
            <p:nvPr/>
          </p:nvSpPr>
          <p:spPr>
            <a:xfrm>
              <a:off x="779995" y="2040718"/>
              <a:ext cx="3048635" cy="5080"/>
            </a:xfrm>
            <a:custGeom>
              <a:avLst/>
              <a:gdLst/>
              <a:ahLst/>
              <a:cxnLst/>
              <a:rect l="l" t="t" r="r" b="b"/>
              <a:pathLst>
                <a:path w="3048635" h="5080">
                  <a:moveTo>
                    <a:pt x="0" y="5060"/>
                  </a:moveTo>
                  <a:lnTo>
                    <a:pt x="0" y="0"/>
                  </a:lnTo>
                  <a:lnTo>
                    <a:pt x="3048038" y="0"/>
                  </a:lnTo>
                  <a:lnTo>
                    <a:pt x="30480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9995" y="2040718"/>
              <a:ext cx="381000" cy="5080"/>
            </a:xfrm>
            <a:custGeom>
              <a:avLst/>
              <a:gdLst/>
              <a:ahLst/>
              <a:cxnLst/>
              <a:rect l="l" t="t" r="r" b="b"/>
              <a:pathLst>
                <a:path w="381000" h="5080">
                  <a:moveTo>
                    <a:pt x="0" y="5060"/>
                  </a:moveTo>
                  <a:lnTo>
                    <a:pt x="0" y="0"/>
                  </a:lnTo>
                  <a:lnTo>
                    <a:pt x="381004" y="0"/>
                  </a:lnTo>
                  <a:lnTo>
                    <a:pt x="38100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77074"/>
            <a:ext cx="9531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Прагматика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942"/>
            <a:ext cx="4608195" cy="5080"/>
            <a:chOff x="0" y="376942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79476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942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942"/>
              <a:ext cx="1152525" cy="5080"/>
            </a:xfrm>
            <a:custGeom>
              <a:avLst/>
              <a:gdLst/>
              <a:ahLst/>
              <a:cxnLst/>
              <a:rect l="l" t="t" r="r" b="b"/>
              <a:pathLst>
                <a:path w="1152525" h="5079">
                  <a:moveTo>
                    <a:pt x="0" y="5060"/>
                  </a:moveTo>
                  <a:lnTo>
                    <a:pt x="0" y="0"/>
                  </a:lnTo>
                  <a:lnTo>
                    <a:pt x="1152014" y="0"/>
                  </a:lnTo>
                  <a:lnTo>
                    <a:pt x="11520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340939"/>
            <a:ext cx="3907154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Работа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выполнена для </a:t>
            </a:r>
            <a:r>
              <a:rPr sz="1100" spc="40" dirty="0">
                <a:solidFill>
                  <a:srgbClr val="22373A"/>
                </a:solidFill>
                <a:latin typeface="Times New Roman"/>
                <a:cs typeface="Times New Roman"/>
              </a:rPr>
              <a:t>того,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чтобы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изучить основные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возможности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Midnight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Commander,</a:t>
            </a:r>
            <a:r>
              <a:rPr sz="1100" spc="-5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научиться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пользоваться </a:t>
            </a:r>
            <a:r>
              <a:rPr sz="1100" spc="-26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Midnight Commander,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чтобы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использовать полученные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75" dirty="0">
                <a:solidFill>
                  <a:srgbClr val="22373A"/>
                </a:solidFill>
                <a:latin typeface="Times New Roman"/>
                <a:cs typeface="Times New Roman"/>
              </a:rPr>
              <a:t>знания</a:t>
            </a:r>
            <a:r>
              <a:rPr sz="1100" spc="-4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для</a:t>
            </a:r>
            <a:r>
              <a:rPr sz="1100" spc="-3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дальнейшей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работы.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pc="30" dirty="0"/>
              <a:t>2/8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77074"/>
            <a:ext cx="41338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Ц</a:t>
            </a:r>
            <a:r>
              <a:rPr spc="-70" dirty="0"/>
              <a:t>е</a:t>
            </a:r>
            <a:r>
              <a:rPr spc="5" dirty="0"/>
              <a:t>ли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942"/>
            <a:ext cx="4608195" cy="5080"/>
            <a:chOff x="0" y="376942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79476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942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942"/>
              <a:ext cx="1728470" cy="5080"/>
            </a:xfrm>
            <a:custGeom>
              <a:avLst/>
              <a:gdLst/>
              <a:ahLst/>
              <a:cxnLst/>
              <a:rect l="l" t="t" r="r" b="b"/>
              <a:pathLst>
                <a:path w="1728470" h="5079">
                  <a:moveTo>
                    <a:pt x="0" y="5060"/>
                  </a:moveTo>
                  <a:lnTo>
                    <a:pt x="0" y="0"/>
                  </a:lnTo>
                  <a:lnTo>
                    <a:pt x="1728022" y="0"/>
                  </a:lnTo>
                  <a:lnTo>
                    <a:pt x="17280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354224"/>
            <a:ext cx="3910329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Освоение основных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возможностей </a:t>
            </a:r>
            <a:r>
              <a:rPr sz="1100" spc="65" dirty="0">
                <a:solidFill>
                  <a:srgbClr val="22373A"/>
                </a:solidFill>
                <a:latin typeface="Times New Roman"/>
                <a:cs typeface="Times New Roman"/>
              </a:rPr>
              <a:t>командной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оболочки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Midnight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Commander.</a:t>
            </a:r>
            <a:r>
              <a:rPr sz="1100" spc="-5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Приобретение</a:t>
            </a:r>
            <a:r>
              <a:rPr sz="1100" spc="-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навыков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практической </a:t>
            </a:r>
            <a:r>
              <a:rPr sz="1100" spc="-26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работы </a:t>
            </a:r>
            <a:r>
              <a:rPr sz="1100" spc="65" dirty="0">
                <a:solidFill>
                  <a:srgbClr val="22373A"/>
                </a:solidFill>
                <a:latin typeface="Times New Roman"/>
                <a:cs typeface="Times New Roman"/>
              </a:rPr>
              <a:t>по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просмотру каталогов </a:t>
            </a:r>
            <a:r>
              <a:rPr sz="1100" spc="75" dirty="0">
                <a:solidFill>
                  <a:srgbClr val="22373A"/>
                </a:solidFill>
                <a:latin typeface="Times New Roman"/>
                <a:cs typeface="Times New Roman"/>
              </a:rPr>
              <a:t>и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файлов; </a:t>
            </a:r>
            <a:r>
              <a:rPr sz="1100" spc="65" dirty="0">
                <a:solidFill>
                  <a:srgbClr val="22373A"/>
                </a:solidFill>
                <a:latin typeface="Times New Roman"/>
                <a:cs typeface="Times New Roman"/>
              </a:rPr>
              <a:t>манипуляций </a:t>
            </a:r>
            <a:r>
              <a:rPr sz="1100" spc="20" dirty="0">
                <a:solidFill>
                  <a:srgbClr val="22373A"/>
                </a:solidFill>
                <a:latin typeface="Times New Roman"/>
                <a:cs typeface="Times New Roman"/>
              </a:rPr>
              <a:t>с </a:t>
            </a:r>
            <a:r>
              <a:rPr sz="1100" spc="2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70" dirty="0">
                <a:solidFill>
                  <a:srgbClr val="22373A"/>
                </a:solidFill>
                <a:latin typeface="Times New Roman"/>
                <a:cs typeface="Times New Roman"/>
              </a:rPr>
              <a:t>ними.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pc="30" dirty="0"/>
              <a:t>3/8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77074"/>
            <a:ext cx="5683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Задачи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942"/>
            <a:ext cx="4608195" cy="5080"/>
            <a:chOff x="0" y="376942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79476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942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942"/>
              <a:ext cx="2304415" cy="5080"/>
            </a:xfrm>
            <a:custGeom>
              <a:avLst/>
              <a:gdLst/>
              <a:ahLst/>
              <a:cxnLst/>
              <a:rect l="l" t="t" r="r" b="b"/>
              <a:pathLst>
                <a:path w="2304415" h="5079">
                  <a:moveTo>
                    <a:pt x="0" y="5060"/>
                  </a:moveTo>
                  <a:lnTo>
                    <a:pt x="0" y="0"/>
                  </a:lnTo>
                  <a:lnTo>
                    <a:pt x="2304030" y="0"/>
                  </a:lnTo>
                  <a:lnTo>
                    <a:pt x="230403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2074" y="1452890"/>
            <a:ext cx="3688079" cy="6191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340"/>
              </a:spcBef>
              <a:buChar char="•"/>
              <a:tabLst>
                <a:tab pos="145415" algn="l"/>
              </a:tabLst>
            </a:pP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Изучить</a:t>
            </a:r>
            <a:r>
              <a:rPr sz="1100" spc="-2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основные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возможности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Midnight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Commander.</a:t>
            </a:r>
            <a:endParaRPr sz="1100">
              <a:latin typeface="Times New Roman"/>
              <a:cs typeface="Times New Roman"/>
            </a:endParaRPr>
          </a:p>
          <a:p>
            <a:pPr marL="144780" marR="80010" indent="-132715">
              <a:lnSpc>
                <a:spcPct val="118000"/>
              </a:lnSpc>
              <a:buChar char="•"/>
              <a:tabLst>
                <a:tab pos="145415" algn="l"/>
              </a:tabLst>
            </a:pP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Приобрести</a:t>
            </a:r>
            <a:r>
              <a:rPr sz="1100" spc="-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65" dirty="0">
                <a:solidFill>
                  <a:srgbClr val="22373A"/>
                </a:solidFill>
                <a:latin typeface="Times New Roman"/>
                <a:cs typeface="Times New Roman"/>
              </a:rPr>
              <a:t>навыки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практической</a:t>
            </a:r>
            <a:r>
              <a:rPr sz="1100" spc="-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работы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в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Midnight </a:t>
            </a:r>
            <a:r>
              <a:rPr sz="1100" spc="-26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Commander.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pc="30" dirty="0"/>
              <a:t>4/8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77190"/>
          </a:xfrm>
          <a:custGeom>
            <a:avLst/>
            <a:gdLst/>
            <a:ahLst/>
            <a:cxnLst/>
            <a:rect l="l" t="t" r="r" b="b"/>
            <a:pathLst>
              <a:path w="4608195" h="377190">
                <a:moveTo>
                  <a:pt x="4608004" y="0"/>
                </a:moveTo>
                <a:lnTo>
                  <a:pt x="0" y="0"/>
                </a:lnTo>
                <a:lnTo>
                  <a:pt x="0" y="376948"/>
                </a:lnTo>
                <a:lnTo>
                  <a:pt x="4608004" y="376948"/>
                </a:lnTo>
                <a:lnTo>
                  <a:pt x="460800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77074"/>
            <a:ext cx="7912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F9F9F9"/>
                </a:solidFill>
                <a:latin typeface="Palatino Linotype"/>
                <a:cs typeface="Palatino Linotype"/>
              </a:rPr>
              <a:t>Работа</a:t>
            </a:r>
            <a:r>
              <a:rPr sz="1200" b="1" spc="-50" dirty="0">
                <a:solidFill>
                  <a:srgbClr val="F9F9F9"/>
                </a:solidFill>
                <a:latin typeface="Palatino Linotype"/>
                <a:cs typeface="Palatino Linotype"/>
              </a:rPr>
              <a:t> </a:t>
            </a:r>
            <a:r>
              <a:rPr sz="1200" b="1" spc="55" dirty="0">
                <a:solidFill>
                  <a:srgbClr val="F9F9F9"/>
                </a:solidFill>
                <a:latin typeface="Palatino Linotype"/>
                <a:cs typeface="Palatino Linotype"/>
              </a:rPr>
              <a:t>(1)</a:t>
            </a:r>
            <a:endParaRPr sz="12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76942"/>
            <a:ext cx="4608195" cy="5080"/>
            <a:chOff x="0" y="376942"/>
            <a:chExt cx="4608195" cy="5080"/>
          </a:xfrm>
        </p:grpSpPr>
        <p:sp>
          <p:nvSpPr>
            <p:cNvPr id="5" name="object 5"/>
            <p:cNvSpPr/>
            <p:nvPr/>
          </p:nvSpPr>
          <p:spPr>
            <a:xfrm>
              <a:off x="0" y="379476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942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76942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79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591" y="429292"/>
            <a:ext cx="3532815" cy="302670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pc="30" dirty="0"/>
              <a:t>5/8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77190"/>
          </a:xfrm>
          <a:custGeom>
            <a:avLst/>
            <a:gdLst/>
            <a:ahLst/>
            <a:cxnLst/>
            <a:rect l="l" t="t" r="r" b="b"/>
            <a:pathLst>
              <a:path w="4608195" h="377190">
                <a:moveTo>
                  <a:pt x="4608004" y="0"/>
                </a:moveTo>
                <a:lnTo>
                  <a:pt x="0" y="0"/>
                </a:lnTo>
                <a:lnTo>
                  <a:pt x="0" y="376948"/>
                </a:lnTo>
                <a:lnTo>
                  <a:pt x="4608004" y="376948"/>
                </a:lnTo>
                <a:lnTo>
                  <a:pt x="460800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77074"/>
            <a:ext cx="7912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F9F9F9"/>
                </a:solidFill>
                <a:latin typeface="Palatino Linotype"/>
                <a:cs typeface="Palatino Linotype"/>
              </a:rPr>
              <a:t>Работа</a:t>
            </a:r>
            <a:r>
              <a:rPr sz="1200" b="1" spc="-50" dirty="0">
                <a:solidFill>
                  <a:srgbClr val="F9F9F9"/>
                </a:solidFill>
                <a:latin typeface="Palatino Linotype"/>
                <a:cs typeface="Palatino Linotype"/>
              </a:rPr>
              <a:t> </a:t>
            </a:r>
            <a:r>
              <a:rPr sz="1200" b="1" spc="55" dirty="0">
                <a:solidFill>
                  <a:srgbClr val="F9F9F9"/>
                </a:solidFill>
                <a:latin typeface="Palatino Linotype"/>
                <a:cs typeface="Palatino Linotype"/>
              </a:rPr>
              <a:t>(2)</a:t>
            </a:r>
            <a:endParaRPr sz="12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76942"/>
            <a:ext cx="4608195" cy="5080"/>
            <a:chOff x="0" y="376942"/>
            <a:chExt cx="4608195" cy="5080"/>
          </a:xfrm>
        </p:grpSpPr>
        <p:sp>
          <p:nvSpPr>
            <p:cNvPr id="5" name="object 5"/>
            <p:cNvSpPr/>
            <p:nvPr/>
          </p:nvSpPr>
          <p:spPr>
            <a:xfrm>
              <a:off x="0" y="379476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942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76942"/>
              <a:ext cx="3456304" cy="5080"/>
            </a:xfrm>
            <a:custGeom>
              <a:avLst/>
              <a:gdLst/>
              <a:ahLst/>
              <a:cxnLst/>
              <a:rect l="l" t="t" r="r" b="b"/>
              <a:pathLst>
                <a:path w="3456304" h="5079">
                  <a:moveTo>
                    <a:pt x="0" y="5060"/>
                  </a:moveTo>
                  <a:lnTo>
                    <a:pt x="0" y="0"/>
                  </a:lnTo>
                  <a:lnTo>
                    <a:pt x="3456045" y="0"/>
                  </a:lnTo>
                  <a:lnTo>
                    <a:pt x="34560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182" y="429252"/>
            <a:ext cx="3511690" cy="302674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pc="30" dirty="0"/>
              <a:t>6/8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77074"/>
            <a:ext cx="8972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Результаты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942"/>
            <a:ext cx="4608195" cy="5080"/>
            <a:chOff x="0" y="376942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79476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942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942"/>
              <a:ext cx="4032250" cy="5080"/>
            </a:xfrm>
            <a:custGeom>
              <a:avLst/>
              <a:gdLst/>
              <a:ahLst/>
              <a:cxnLst/>
              <a:rect l="l" t="t" r="r" b="b"/>
              <a:pathLst>
                <a:path w="4032250" h="5079">
                  <a:moveTo>
                    <a:pt x="0" y="5060"/>
                  </a:moveTo>
                  <a:lnTo>
                    <a:pt x="0" y="0"/>
                  </a:lnTo>
                  <a:lnTo>
                    <a:pt x="4032052" y="0"/>
                  </a:lnTo>
                  <a:lnTo>
                    <a:pt x="40320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439885"/>
            <a:ext cx="3780154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Изучена </a:t>
            </a:r>
            <a:r>
              <a:rPr sz="1100" spc="70" dirty="0">
                <a:solidFill>
                  <a:srgbClr val="22373A"/>
                </a:solidFill>
                <a:latin typeface="Times New Roman"/>
                <a:cs typeface="Times New Roman"/>
              </a:rPr>
              <a:t>информация,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касающаяся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Midnight Commander, </a:t>
            </a:r>
            <a:r>
              <a:rPr sz="1100" spc="-26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были</a:t>
            </a:r>
            <a:r>
              <a:rPr sz="1100" spc="-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рассмотрены</a:t>
            </a:r>
            <a:r>
              <a:rPr sz="1100" spc="-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65" dirty="0">
                <a:solidFill>
                  <a:srgbClr val="22373A"/>
                </a:solidFill>
                <a:latin typeface="Times New Roman"/>
                <a:cs typeface="Times New Roman"/>
              </a:rPr>
              <a:t>различные</a:t>
            </a:r>
            <a:r>
              <a:rPr sz="110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панели,</a:t>
            </a:r>
            <a:r>
              <a:rPr sz="1100" spc="-5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освоены</a:t>
            </a:r>
            <a:r>
              <a:rPr sz="1100" spc="-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основные </a:t>
            </a:r>
            <a:r>
              <a:rPr sz="1100" spc="-26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возможности</a:t>
            </a:r>
            <a:r>
              <a:rPr sz="1100" spc="-1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Times New Roman"/>
                <a:cs typeface="Times New Roman"/>
              </a:rPr>
              <a:t>MC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75" dirty="0">
                <a:solidFill>
                  <a:srgbClr val="22373A"/>
                </a:solidFill>
                <a:latin typeface="Times New Roman"/>
                <a:cs typeface="Times New Roman"/>
              </a:rPr>
              <a:t>и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базовые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горячие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клавиши.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pc="30" dirty="0"/>
              <a:t>7/8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77074"/>
            <a:ext cx="9658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Заключение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942"/>
            <a:ext cx="4608195" cy="5080"/>
            <a:chOff x="0" y="376942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79476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942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942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354224"/>
            <a:ext cx="3910329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Освоение основных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возможностей </a:t>
            </a:r>
            <a:r>
              <a:rPr sz="1100" spc="65" dirty="0">
                <a:solidFill>
                  <a:srgbClr val="22373A"/>
                </a:solidFill>
                <a:latin typeface="Times New Roman"/>
                <a:cs typeface="Times New Roman"/>
              </a:rPr>
              <a:t>командной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оболочки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Midnight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Times New Roman"/>
                <a:cs typeface="Times New Roman"/>
              </a:rPr>
              <a:t>Commander.</a:t>
            </a:r>
            <a:r>
              <a:rPr sz="1100" spc="-5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Приобретение</a:t>
            </a:r>
            <a:r>
              <a:rPr sz="1100" spc="-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навыков</a:t>
            </a:r>
            <a:r>
              <a:rPr sz="1100" spc="-1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Times New Roman"/>
                <a:cs typeface="Times New Roman"/>
              </a:rPr>
              <a:t>практической </a:t>
            </a:r>
            <a:r>
              <a:rPr sz="1100" spc="-260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работы </a:t>
            </a:r>
            <a:r>
              <a:rPr sz="1100" spc="65" dirty="0">
                <a:solidFill>
                  <a:srgbClr val="22373A"/>
                </a:solidFill>
                <a:latin typeface="Times New Roman"/>
                <a:cs typeface="Times New Roman"/>
              </a:rPr>
              <a:t>по </a:t>
            </a:r>
            <a:r>
              <a:rPr sz="1100" spc="50" dirty="0">
                <a:solidFill>
                  <a:srgbClr val="22373A"/>
                </a:solidFill>
                <a:latin typeface="Times New Roman"/>
                <a:cs typeface="Times New Roman"/>
              </a:rPr>
              <a:t>просмотру каталогов </a:t>
            </a:r>
            <a:r>
              <a:rPr sz="1100" spc="75" dirty="0">
                <a:solidFill>
                  <a:srgbClr val="22373A"/>
                </a:solidFill>
                <a:latin typeface="Times New Roman"/>
                <a:cs typeface="Times New Roman"/>
              </a:rPr>
              <a:t>и </a:t>
            </a:r>
            <a:r>
              <a:rPr sz="1100" spc="60" dirty="0">
                <a:solidFill>
                  <a:srgbClr val="22373A"/>
                </a:solidFill>
                <a:latin typeface="Times New Roman"/>
                <a:cs typeface="Times New Roman"/>
              </a:rPr>
              <a:t>файлов; </a:t>
            </a:r>
            <a:r>
              <a:rPr sz="1100" spc="65" dirty="0">
                <a:solidFill>
                  <a:srgbClr val="22373A"/>
                </a:solidFill>
                <a:latin typeface="Times New Roman"/>
                <a:cs typeface="Times New Roman"/>
              </a:rPr>
              <a:t>манипуляций </a:t>
            </a:r>
            <a:r>
              <a:rPr sz="1100" spc="20" dirty="0">
                <a:solidFill>
                  <a:srgbClr val="22373A"/>
                </a:solidFill>
                <a:latin typeface="Times New Roman"/>
                <a:cs typeface="Times New Roman"/>
              </a:rPr>
              <a:t>с </a:t>
            </a:r>
            <a:r>
              <a:rPr sz="1100" spc="2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100" spc="70" dirty="0">
                <a:solidFill>
                  <a:srgbClr val="22373A"/>
                </a:solidFill>
                <a:latin typeface="Times New Roman"/>
                <a:cs typeface="Times New Roman"/>
              </a:rPr>
              <a:t>ними.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pc="30" dirty="0"/>
              <a:t>8/8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154</Words>
  <Application>Microsoft Office PowerPoint</Application>
  <PresentationFormat>Произвольный</PresentationFormat>
  <Paragraphs>25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Calibri</vt:lpstr>
      <vt:lpstr>Palatino Linotype</vt:lpstr>
      <vt:lpstr>Times New Roman</vt:lpstr>
      <vt:lpstr>Office Theme</vt:lpstr>
      <vt:lpstr>Лабораторная работа №8 “Командная  оболочка Midnight Commander”</vt:lpstr>
      <vt:lpstr>Презентация PowerPoint</vt:lpstr>
      <vt:lpstr>Прагматика</vt:lpstr>
      <vt:lpstr>Цели</vt:lpstr>
      <vt:lpstr>Задачи</vt:lpstr>
      <vt:lpstr>Презентация PowerPoint</vt:lpstr>
      <vt:lpstr>Презентация PowerPoint</vt:lpstr>
      <vt:lpstr>Результаты</vt:lpstr>
      <vt:lpstr>Заключение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№8 “Командная оболочка Midnight Commander”</dc:title>
  <dc:creator>Саттарова Вита Викторовна</dc:creator>
  <cp:lastModifiedBy>vlad lagoda</cp:lastModifiedBy>
  <cp:revision>1</cp:revision>
  <dcterms:created xsi:type="dcterms:W3CDTF">2021-10-25T18:57:16Z</dcterms:created>
  <dcterms:modified xsi:type="dcterms:W3CDTF">2021-10-25T18:58:13Z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2021-05-16T00:00:00Z</vt:filetime>
  </property>
  <property fmtid="{D5CDD505-2E9C-101B-9397-08002B2CF9AE}" pid="3" name="Creator">
    <vt:lpwstr>LaTeX via pandoc</vt:lpwstr>
  </property>
  <property fmtid="{D5CDD505-2E9C-101B-9397-08002B2CF9AE}" pid="4" name="LastSaved">
    <vt:filetime>2021-10-25T00:00:00Z</vt:filetime>
  </property>
</Properties>
</file>